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T Norms Std Condensed Bold" charset="1" panose="02000806020000020003"/>
      <p:regular r:id="rId12"/>
    </p:embeddedFont>
    <p:embeddedFont>
      <p:font typeface="TT Norms Std Condensed" charset="1" panose="020005060300000200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23" Target="../media/image45.png" Type="http://schemas.openxmlformats.org/officeDocument/2006/relationships/image"/><Relationship Id="rId24" Target="../media/image46.png" Type="http://schemas.openxmlformats.org/officeDocument/2006/relationships/image"/><Relationship Id="rId25" Target="../media/image47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62.png" Type="http://schemas.openxmlformats.org/officeDocument/2006/relationships/image"/><Relationship Id="rId17" Target="../media/image63.png" Type="http://schemas.openxmlformats.org/officeDocument/2006/relationships/image"/><Relationship Id="rId18" Target="../media/image64.png" Type="http://schemas.openxmlformats.org/officeDocument/2006/relationships/image"/><Relationship Id="rId19" Target="../media/image65.png" Type="http://schemas.openxmlformats.org/officeDocument/2006/relationships/image"/><Relationship Id="rId2" Target="../media/image48.png" Type="http://schemas.openxmlformats.org/officeDocument/2006/relationships/image"/><Relationship Id="rId20" Target="../media/image66.png" Type="http://schemas.openxmlformats.org/officeDocument/2006/relationships/image"/><Relationship Id="rId21" Target="../media/image67.png" Type="http://schemas.openxmlformats.org/officeDocument/2006/relationships/image"/><Relationship Id="rId22" Target="../media/image68.png" Type="http://schemas.openxmlformats.org/officeDocument/2006/relationships/image"/><Relationship Id="rId23" Target="../media/image69.png" Type="http://schemas.openxmlformats.org/officeDocument/2006/relationships/image"/><Relationship Id="rId24" Target="../media/image70.png" Type="http://schemas.openxmlformats.org/officeDocument/2006/relationships/image"/><Relationship Id="rId25" Target="../media/image71.png" Type="http://schemas.openxmlformats.org/officeDocument/2006/relationships/image"/><Relationship Id="rId26" Target="../media/image72.png" Type="http://schemas.openxmlformats.org/officeDocument/2006/relationships/image"/><Relationship Id="rId27" Target="../media/image73.png" Type="http://schemas.openxmlformats.org/officeDocument/2006/relationships/image"/><Relationship Id="rId28" Target="../media/image74.png" Type="http://schemas.openxmlformats.org/officeDocument/2006/relationships/image"/><Relationship Id="rId29" Target="../media/image75.png" Type="http://schemas.openxmlformats.org/officeDocument/2006/relationships/image"/><Relationship Id="rId3" Target="../media/image49.png" Type="http://schemas.openxmlformats.org/officeDocument/2006/relationships/image"/><Relationship Id="rId30" Target="../media/image76.png" Type="http://schemas.openxmlformats.org/officeDocument/2006/relationships/image"/><Relationship Id="rId31" Target="../media/image77.png" Type="http://schemas.openxmlformats.org/officeDocument/2006/relationships/image"/><Relationship Id="rId32" Target="../media/image78.png" Type="http://schemas.openxmlformats.org/officeDocument/2006/relationships/image"/><Relationship Id="rId33" Target="../media/image79.png" Type="http://schemas.openxmlformats.org/officeDocument/2006/relationships/image"/><Relationship Id="rId34" Target="../media/image80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12" Target="../media/image91.png" Type="http://schemas.openxmlformats.org/officeDocument/2006/relationships/image"/><Relationship Id="rId13" Target="../media/image92.png" Type="http://schemas.openxmlformats.org/officeDocument/2006/relationships/image"/><Relationship Id="rId14" Target="../media/image93.png" Type="http://schemas.openxmlformats.org/officeDocument/2006/relationships/image"/><Relationship Id="rId15" Target="../media/image94.png" Type="http://schemas.openxmlformats.org/officeDocument/2006/relationships/image"/><Relationship Id="rId16" Target="../media/image95.png" Type="http://schemas.openxmlformats.org/officeDocument/2006/relationships/image"/><Relationship Id="rId17" Target="../media/image96.png" Type="http://schemas.openxmlformats.org/officeDocument/2006/relationships/image"/><Relationship Id="rId18" Target="../media/image97.png" Type="http://schemas.openxmlformats.org/officeDocument/2006/relationships/image"/><Relationship Id="rId19" Target="../media/image98.png" Type="http://schemas.openxmlformats.org/officeDocument/2006/relationships/image"/><Relationship Id="rId2" Target="../media/image81.png" Type="http://schemas.openxmlformats.org/officeDocument/2006/relationships/image"/><Relationship Id="rId20" Target="../media/image99.png" Type="http://schemas.openxmlformats.org/officeDocument/2006/relationships/image"/><Relationship Id="rId21" Target="../media/image100.png" Type="http://schemas.openxmlformats.org/officeDocument/2006/relationships/image"/><Relationship Id="rId22" Target="../media/image101.png" Type="http://schemas.openxmlformats.org/officeDocument/2006/relationships/image"/><Relationship Id="rId23" Target="../media/image102.png" Type="http://schemas.openxmlformats.org/officeDocument/2006/relationships/image"/><Relationship Id="rId24" Target="../media/image103.png" Type="http://schemas.openxmlformats.org/officeDocument/2006/relationships/image"/><Relationship Id="rId25" Target="../media/image104.png" Type="http://schemas.openxmlformats.org/officeDocument/2006/relationships/image"/><Relationship Id="rId26" Target="../media/image105.png" Type="http://schemas.openxmlformats.org/officeDocument/2006/relationships/image"/><Relationship Id="rId27" Target="../media/image106.png" Type="http://schemas.openxmlformats.org/officeDocument/2006/relationships/image"/><Relationship Id="rId28" Target="../media/image107.png" Type="http://schemas.openxmlformats.org/officeDocument/2006/relationships/image"/><Relationship Id="rId29" Target="../media/image108.png" Type="http://schemas.openxmlformats.org/officeDocument/2006/relationships/image"/><Relationship Id="rId3" Target="../media/image82.png" Type="http://schemas.openxmlformats.org/officeDocument/2006/relationships/image"/><Relationship Id="rId30" Target="../media/image109.png" Type="http://schemas.openxmlformats.org/officeDocument/2006/relationships/image"/><Relationship Id="rId31" Target="../media/image110.png" Type="http://schemas.openxmlformats.org/officeDocument/2006/relationships/image"/><Relationship Id="rId32" Target="../media/image111.png" Type="http://schemas.openxmlformats.org/officeDocument/2006/relationships/image"/><Relationship Id="rId33" Target="../media/image112.png" Type="http://schemas.openxmlformats.org/officeDocument/2006/relationships/image"/><Relationship Id="rId34" Target="../media/image113.png" Type="http://schemas.openxmlformats.org/officeDocument/2006/relationships/image"/><Relationship Id="rId35" Target="../media/image114.png" Type="http://schemas.openxmlformats.org/officeDocument/2006/relationships/image"/><Relationship Id="rId36" Target="../media/image115.png" Type="http://schemas.openxmlformats.org/officeDocument/2006/relationships/image"/><Relationship Id="rId37" Target="../media/image116.png" Type="http://schemas.openxmlformats.org/officeDocument/2006/relationships/image"/><Relationship Id="rId38" Target="../media/image117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png" Type="http://schemas.openxmlformats.org/officeDocument/2006/relationships/image"/><Relationship Id="rId12" Target="../media/image128.png" Type="http://schemas.openxmlformats.org/officeDocument/2006/relationships/image"/><Relationship Id="rId13" Target="../media/image129.png" Type="http://schemas.openxmlformats.org/officeDocument/2006/relationships/image"/><Relationship Id="rId14" Target="../media/image130.png" Type="http://schemas.openxmlformats.org/officeDocument/2006/relationships/image"/><Relationship Id="rId15" Target="../media/image131.png" Type="http://schemas.openxmlformats.org/officeDocument/2006/relationships/image"/><Relationship Id="rId16" Target="../media/image132.png" Type="http://schemas.openxmlformats.org/officeDocument/2006/relationships/image"/><Relationship Id="rId17" Target="../media/image133.png" Type="http://schemas.openxmlformats.org/officeDocument/2006/relationships/image"/><Relationship Id="rId18" Target="../media/image134.png" Type="http://schemas.openxmlformats.org/officeDocument/2006/relationships/image"/><Relationship Id="rId19" Target="../media/image135.png" Type="http://schemas.openxmlformats.org/officeDocument/2006/relationships/image"/><Relationship Id="rId2" Target="../media/image118.png" Type="http://schemas.openxmlformats.org/officeDocument/2006/relationships/image"/><Relationship Id="rId20" Target="../media/image136.png" Type="http://schemas.openxmlformats.org/officeDocument/2006/relationships/image"/><Relationship Id="rId21" Target="../media/image137.png" Type="http://schemas.openxmlformats.org/officeDocument/2006/relationships/image"/><Relationship Id="rId22" Target="../media/image138.png" Type="http://schemas.openxmlformats.org/officeDocument/2006/relationships/image"/><Relationship Id="rId23" Target="../media/image139.png" Type="http://schemas.openxmlformats.org/officeDocument/2006/relationships/image"/><Relationship Id="rId24" Target="../media/image140.png" Type="http://schemas.openxmlformats.org/officeDocument/2006/relationships/image"/><Relationship Id="rId25" Target="../media/image141.png" Type="http://schemas.openxmlformats.org/officeDocument/2006/relationships/image"/><Relationship Id="rId3" Target="../media/image119.png" Type="http://schemas.openxmlformats.org/officeDocument/2006/relationships/image"/><Relationship Id="rId4" Target="../media/image120.png" Type="http://schemas.openxmlformats.org/officeDocument/2006/relationships/image"/><Relationship Id="rId5" Target="../media/image121.png" Type="http://schemas.openxmlformats.org/officeDocument/2006/relationships/image"/><Relationship Id="rId6" Target="../media/image122.png" Type="http://schemas.openxmlformats.org/officeDocument/2006/relationships/image"/><Relationship Id="rId7" Target="../media/image123.png" Type="http://schemas.openxmlformats.org/officeDocument/2006/relationships/image"/><Relationship Id="rId8" Target="../media/image124.png" Type="http://schemas.openxmlformats.org/officeDocument/2006/relationships/image"/><Relationship Id="rId9" Target="../media/image1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0.png" Type="http://schemas.openxmlformats.org/officeDocument/2006/relationships/image"/><Relationship Id="rId11" Target="../media/image151.png" Type="http://schemas.openxmlformats.org/officeDocument/2006/relationships/image"/><Relationship Id="rId12" Target="../media/image152.png" Type="http://schemas.openxmlformats.org/officeDocument/2006/relationships/image"/><Relationship Id="rId13" Target="../media/image153.png" Type="http://schemas.openxmlformats.org/officeDocument/2006/relationships/image"/><Relationship Id="rId14" Target="../media/image154.png" Type="http://schemas.openxmlformats.org/officeDocument/2006/relationships/image"/><Relationship Id="rId15" Target="../media/image155.png" Type="http://schemas.openxmlformats.org/officeDocument/2006/relationships/image"/><Relationship Id="rId16" Target="../media/image156.png" Type="http://schemas.openxmlformats.org/officeDocument/2006/relationships/image"/><Relationship Id="rId17" Target="../media/image157.png" Type="http://schemas.openxmlformats.org/officeDocument/2006/relationships/image"/><Relationship Id="rId18" Target="../media/image158.png" Type="http://schemas.openxmlformats.org/officeDocument/2006/relationships/image"/><Relationship Id="rId19" Target="../media/image159.png" Type="http://schemas.openxmlformats.org/officeDocument/2006/relationships/image"/><Relationship Id="rId2" Target="../media/image142.png" Type="http://schemas.openxmlformats.org/officeDocument/2006/relationships/image"/><Relationship Id="rId3" Target="../media/image143.png" Type="http://schemas.openxmlformats.org/officeDocument/2006/relationships/image"/><Relationship Id="rId4" Target="../media/image144.png" Type="http://schemas.openxmlformats.org/officeDocument/2006/relationships/image"/><Relationship Id="rId5" Target="../media/image145.png" Type="http://schemas.openxmlformats.org/officeDocument/2006/relationships/image"/><Relationship Id="rId6" Target="../media/image146.png" Type="http://schemas.openxmlformats.org/officeDocument/2006/relationships/image"/><Relationship Id="rId7" Target="../media/image147.png" Type="http://schemas.openxmlformats.org/officeDocument/2006/relationships/image"/><Relationship Id="rId8" Target="../media/image148.png" Type="http://schemas.openxmlformats.org/officeDocument/2006/relationships/image"/><Relationship Id="rId9" Target="../media/image1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472" y="258767"/>
            <a:ext cx="8362143" cy="157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10"/>
              </a:lnSpc>
            </a:pPr>
            <a:r>
              <a:rPr lang="en-US" b="true" sz="10423" spc="208">
                <a:solidFill>
                  <a:srgbClr val="06225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THE 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2406316" cy="448211"/>
          </a:xfrm>
          <a:custGeom>
            <a:avLst/>
            <a:gdLst/>
            <a:ahLst/>
            <a:cxnLst/>
            <a:rect r="r" b="b" t="t" l="l"/>
            <a:pathLst>
              <a:path h="448211" w="2406316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1598" y="1924030"/>
            <a:ext cx="1968804" cy="4296271"/>
          </a:xfrm>
          <a:custGeom>
            <a:avLst/>
            <a:gdLst/>
            <a:ahLst/>
            <a:cxnLst/>
            <a:rect r="r" b="b" t="t" l="l"/>
            <a:pathLst>
              <a:path h="4296271" w="1968804">
                <a:moveTo>
                  <a:pt x="0" y="0"/>
                </a:moveTo>
                <a:lnTo>
                  <a:pt x="1968804" y="0"/>
                </a:lnTo>
                <a:lnTo>
                  <a:pt x="196880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354" y="5990729"/>
            <a:ext cx="1531292" cy="874559"/>
          </a:xfrm>
          <a:custGeom>
            <a:avLst/>
            <a:gdLst/>
            <a:ahLst/>
            <a:cxnLst/>
            <a:rect r="r" b="b" t="t" l="l"/>
            <a:pathLst>
              <a:path h="874559" w="1531292">
                <a:moveTo>
                  <a:pt x="0" y="0"/>
                </a:moveTo>
                <a:lnTo>
                  <a:pt x="1531292" y="0"/>
                </a:lnTo>
                <a:lnTo>
                  <a:pt x="153129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6609" y="6271697"/>
            <a:ext cx="1660922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5FFF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NORMAL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78220" y="3848060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72000" y="1924030"/>
            <a:ext cx="1750048" cy="4296271"/>
          </a:xfrm>
          <a:custGeom>
            <a:avLst/>
            <a:gdLst/>
            <a:ahLst/>
            <a:cxnLst/>
            <a:rect r="r" b="b" t="t" l="l"/>
            <a:pathLst>
              <a:path h="4296271" w="1750048">
                <a:moveTo>
                  <a:pt x="0" y="0"/>
                </a:moveTo>
                <a:lnTo>
                  <a:pt x="1750048" y="0"/>
                </a:lnTo>
                <a:lnTo>
                  <a:pt x="175004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72000" y="5990729"/>
            <a:ext cx="1531292" cy="874559"/>
          </a:xfrm>
          <a:custGeom>
            <a:avLst/>
            <a:gdLst/>
            <a:ahLst/>
            <a:cxnLst/>
            <a:rect r="r" b="b" t="t" l="l"/>
            <a:pathLst>
              <a:path h="874559" w="1531292">
                <a:moveTo>
                  <a:pt x="0" y="0"/>
                </a:moveTo>
                <a:lnTo>
                  <a:pt x="1531292" y="0"/>
                </a:lnTo>
                <a:lnTo>
                  <a:pt x="153129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29866" y="3848060"/>
            <a:ext cx="656268" cy="874559"/>
          </a:xfrm>
          <a:custGeom>
            <a:avLst/>
            <a:gdLst/>
            <a:ahLst/>
            <a:cxnLst/>
            <a:rect r="r" b="b" t="t" l="l"/>
            <a:pathLst>
              <a:path h="874559" w="656268">
                <a:moveTo>
                  <a:pt x="0" y="0"/>
                </a:moveTo>
                <a:lnTo>
                  <a:pt x="656268" y="0"/>
                </a:lnTo>
                <a:lnTo>
                  <a:pt x="65626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93952" y="1924030"/>
            <a:ext cx="1750048" cy="4296271"/>
          </a:xfrm>
          <a:custGeom>
            <a:avLst/>
            <a:gdLst/>
            <a:ahLst/>
            <a:cxnLst/>
            <a:rect r="r" b="b" t="t" l="l"/>
            <a:pathLst>
              <a:path h="4296271" w="1750048">
                <a:moveTo>
                  <a:pt x="0" y="0"/>
                </a:moveTo>
                <a:lnTo>
                  <a:pt x="1750048" y="0"/>
                </a:lnTo>
                <a:lnTo>
                  <a:pt x="175004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612708" y="5990729"/>
            <a:ext cx="1531292" cy="874559"/>
          </a:xfrm>
          <a:custGeom>
            <a:avLst/>
            <a:gdLst/>
            <a:ahLst/>
            <a:cxnLst/>
            <a:rect r="r" b="b" t="t" l="l"/>
            <a:pathLst>
              <a:path h="874559" w="1531292">
                <a:moveTo>
                  <a:pt x="0" y="0"/>
                </a:moveTo>
                <a:lnTo>
                  <a:pt x="1531292" y="0"/>
                </a:lnTo>
                <a:lnTo>
                  <a:pt x="153129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74148" y="6271697"/>
            <a:ext cx="1741289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5FFF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CRITICAL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6854356"/>
            <a:ext cx="9811206" cy="1508614"/>
          </a:xfrm>
          <a:custGeom>
            <a:avLst/>
            <a:gdLst/>
            <a:ahLst/>
            <a:cxnLst/>
            <a:rect r="r" b="b" t="t" l="l"/>
            <a:pathLst>
              <a:path h="1508614" w="9811206">
                <a:moveTo>
                  <a:pt x="0" y="0"/>
                </a:moveTo>
                <a:lnTo>
                  <a:pt x="9811206" y="0"/>
                </a:lnTo>
                <a:lnTo>
                  <a:pt x="9811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2842" y="7062064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59148" y="7342898"/>
            <a:ext cx="2324217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b="true">
                <a:solidFill>
                  <a:srgbClr val="06225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Saline Level ↓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572000" y="7062064"/>
            <a:ext cx="218756" cy="874559"/>
          </a:xfrm>
          <a:custGeom>
            <a:avLst/>
            <a:gdLst/>
            <a:ahLst/>
            <a:cxnLst/>
            <a:rect r="r" b="b" t="t" l="l"/>
            <a:pathLst>
              <a:path h="874559" w="218756">
                <a:moveTo>
                  <a:pt x="0" y="0"/>
                </a:moveTo>
                <a:lnTo>
                  <a:pt x="218756" y="0"/>
                </a:lnTo>
                <a:lnTo>
                  <a:pt x="21875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98574" y="7062064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883410" y="7342898"/>
            <a:ext cx="3697328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b="true">
                <a:solidFill>
                  <a:srgbClr val="06225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Monitoring Difficulty ↑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883110" y="1497682"/>
            <a:ext cx="3489158" cy="3224936"/>
          </a:xfrm>
          <a:custGeom>
            <a:avLst/>
            <a:gdLst/>
            <a:ahLst/>
            <a:cxnLst/>
            <a:rect r="r" b="b" t="t" l="l"/>
            <a:pathLst>
              <a:path h="3224936" w="3489158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633140" y="1800507"/>
            <a:ext cx="1941691" cy="83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06225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MANUAL MONITORING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747196" y="2776725"/>
            <a:ext cx="1760986" cy="1519546"/>
          </a:xfrm>
          <a:custGeom>
            <a:avLst/>
            <a:gdLst/>
            <a:ahLst/>
            <a:cxnLst/>
            <a:rect r="r" b="b" t="t" l="l"/>
            <a:pathLst>
              <a:path h="1519546" w="1760986">
                <a:moveTo>
                  <a:pt x="0" y="0"/>
                </a:moveTo>
                <a:lnTo>
                  <a:pt x="1760986" y="0"/>
                </a:lnTo>
                <a:lnTo>
                  <a:pt x="176098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61330" y="1497682"/>
            <a:ext cx="3281340" cy="3224936"/>
          </a:xfrm>
          <a:custGeom>
            <a:avLst/>
            <a:gdLst/>
            <a:ahLst/>
            <a:cxnLst/>
            <a:rect r="r" b="b" t="t" l="l"/>
            <a:pathLst>
              <a:path h="3224936" w="3281340">
                <a:moveTo>
                  <a:pt x="0" y="0"/>
                </a:moveTo>
                <a:lnTo>
                  <a:pt x="3281340" y="0"/>
                </a:lnTo>
                <a:lnTo>
                  <a:pt x="3281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046548" y="1810034"/>
            <a:ext cx="1709271" cy="82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b="true" sz="2784">
                <a:solidFill>
                  <a:srgbClr val="06225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DELAYED ATTENTION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236354" y="2776725"/>
            <a:ext cx="1531292" cy="1519546"/>
          </a:xfrm>
          <a:custGeom>
            <a:avLst/>
            <a:gdLst/>
            <a:ahLst/>
            <a:cxnLst/>
            <a:rect r="r" b="b" t="t" l="l"/>
            <a:pathLst>
              <a:path h="1519546" w="1531292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83110" y="4711687"/>
            <a:ext cx="3489158" cy="3224936"/>
          </a:xfrm>
          <a:custGeom>
            <a:avLst/>
            <a:gdLst/>
            <a:ahLst/>
            <a:cxnLst/>
            <a:rect r="r" b="b" t="t" l="l"/>
            <a:pathLst>
              <a:path h="3224936" w="3489158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708003" y="5063175"/>
            <a:ext cx="1791966" cy="82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b="true" sz="2784">
                <a:solidFill>
                  <a:srgbClr val="06225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INCREASED WORKLOAD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747196" y="5990729"/>
            <a:ext cx="1760986" cy="1519546"/>
          </a:xfrm>
          <a:custGeom>
            <a:avLst/>
            <a:gdLst/>
            <a:ahLst/>
            <a:cxnLst/>
            <a:rect r="r" b="b" t="t" l="l"/>
            <a:pathLst>
              <a:path h="1519546" w="1760986">
                <a:moveTo>
                  <a:pt x="0" y="0"/>
                </a:moveTo>
                <a:lnTo>
                  <a:pt x="1760986" y="0"/>
                </a:lnTo>
                <a:lnTo>
                  <a:pt x="176098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361330" y="4711687"/>
            <a:ext cx="3281340" cy="3224936"/>
          </a:xfrm>
          <a:custGeom>
            <a:avLst/>
            <a:gdLst/>
            <a:ahLst/>
            <a:cxnLst/>
            <a:rect r="r" b="b" t="t" l="l"/>
            <a:pathLst>
              <a:path h="3224936" w="3281340">
                <a:moveTo>
                  <a:pt x="0" y="0"/>
                </a:moveTo>
                <a:lnTo>
                  <a:pt x="3281340" y="0"/>
                </a:lnTo>
                <a:lnTo>
                  <a:pt x="3281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702364" y="5063175"/>
            <a:ext cx="2390138" cy="82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b="true" sz="2784">
                <a:solidFill>
                  <a:srgbClr val="06225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RISK OF SALINE RUNNING OUT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236354" y="5990729"/>
            <a:ext cx="1531292" cy="1519546"/>
          </a:xfrm>
          <a:custGeom>
            <a:avLst/>
            <a:gdLst/>
            <a:ahLst/>
            <a:cxnLst/>
            <a:rect r="r" b="b" t="t" l="l"/>
            <a:pathLst>
              <a:path h="1519546" w="1531292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45330" y="8352038"/>
            <a:ext cx="16997340" cy="1508614"/>
          </a:xfrm>
          <a:custGeom>
            <a:avLst/>
            <a:gdLst/>
            <a:ahLst/>
            <a:cxnLst/>
            <a:rect r="r" b="b" t="t" l="l"/>
            <a:pathLst>
              <a:path h="1508614" w="16997340">
                <a:moveTo>
                  <a:pt x="0" y="0"/>
                </a:moveTo>
                <a:lnTo>
                  <a:pt x="16997340" y="0"/>
                </a:lnTo>
                <a:lnTo>
                  <a:pt x="16997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197469" y="8677777"/>
            <a:ext cx="13564449" cy="91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7"/>
              </a:lnSpc>
            </a:pPr>
            <a:r>
              <a:rPr lang="en-US" sz="6038" b="true">
                <a:solidFill>
                  <a:srgbClr val="F5FFF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Can we monitor saline levels automatically?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80930" y="6271697"/>
            <a:ext cx="1580555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F5FFF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LOW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560" y="1003725"/>
            <a:ext cx="7801012" cy="124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7"/>
              </a:lnSpc>
            </a:pPr>
            <a:r>
              <a:rPr lang="en-US" sz="9327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OUR 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350377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2995365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1598" y="3214004"/>
            <a:ext cx="1093780" cy="2579949"/>
          </a:xfrm>
          <a:custGeom>
            <a:avLst/>
            <a:gdLst/>
            <a:ahLst/>
            <a:cxnLst/>
            <a:rect r="r" b="b" t="t" l="l"/>
            <a:pathLst>
              <a:path h="2579949" w="1093780">
                <a:moveTo>
                  <a:pt x="0" y="0"/>
                </a:moveTo>
                <a:lnTo>
                  <a:pt x="1093780" y="0"/>
                </a:lnTo>
                <a:lnTo>
                  <a:pt x="109378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15732" y="3214004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34488" y="3848060"/>
            <a:ext cx="1968804" cy="1519546"/>
          </a:xfrm>
          <a:custGeom>
            <a:avLst/>
            <a:gdLst/>
            <a:ahLst/>
            <a:cxnLst/>
            <a:rect r="r" b="b" t="t" l="l"/>
            <a:pathLst>
              <a:path h="1519546" w="1968804">
                <a:moveTo>
                  <a:pt x="0" y="0"/>
                </a:moveTo>
                <a:lnTo>
                  <a:pt x="1968804" y="0"/>
                </a:lnTo>
                <a:lnTo>
                  <a:pt x="196880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48622" y="3214004"/>
            <a:ext cx="2395378" cy="2579949"/>
          </a:xfrm>
          <a:custGeom>
            <a:avLst/>
            <a:gdLst/>
            <a:ahLst/>
            <a:cxnLst/>
            <a:rect r="r" b="b" t="t" l="l"/>
            <a:pathLst>
              <a:path h="2579949" w="2395378">
                <a:moveTo>
                  <a:pt x="0" y="0"/>
                </a:moveTo>
                <a:lnTo>
                  <a:pt x="2395378" y="0"/>
                </a:lnTo>
                <a:lnTo>
                  <a:pt x="239537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56440" y="3640352"/>
            <a:ext cx="1979742" cy="1727254"/>
          </a:xfrm>
          <a:custGeom>
            <a:avLst/>
            <a:gdLst/>
            <a:ahLst/>
            <a:cxnLst/>
            <a:rect r="r" b="b" t="t" l="l"/>
            <a:pathLst>
              <a:path h="1727254" w="1979742">
                <a:moveTo>
                  <a:pt x="0" y="0"/>
                </a:moveTo>
                <a:lnTo>
                  <a:pt x="1979742" y="0"/>
                </a:lnTo>
                <a:lnTo>
                  <a:pt x="197974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70574" y="3214004"/>
            <a:ext cx="2187560" cy="2579949"/>
          </a:xfrm>
          <a:custGeom>
            <a:avLst/>
            <a:gdLst/>
            <a:ahLst/>
            <a:cxnLst/>
            <a:rect r="r" b="b" t="t" l="l"/>
            <a:pathLst>
              <a:path h="2579949" w="2187560">
                <a:moveTo>
                  <a:pt x="0" y="0"/>
                </a:moveTo>
                <a:lnTo>
                  <a:pt x="2187560" y="0"/>
                </a:lnTo>
                <a:lnTo>
                  <a:pt x="218756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89330" y="3848060"/>
            <a:ext cx="1542230" cy="1300906"/>
          </a:xfrm>
          <a:custGeom>
            <a:avLst/>
            <a:gdLst/>
            <a:ahLst/>
            <a:cxnLst/>
            <a:rect r="r" b="b" t="t" l="l"/>
            <a:pathLst>
              <a:path h="1300906" w="1542230">
                <a:moveTo>
                  <a:pt x="0" y="0"/>
                </a:moveTo>
                <a:lnTo>
                  <a:pt x="1542230" y="0"/>
                </a:lnTo>
                <a:lnTo>
                  <a:pt x="1542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03464" y="3214004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84708" y="3421712"/>
            <a:ext cx="2843828" cy="1945894"/>
          </a:xfrm>
          <a:custGeom>
            <a:avLst/>
            <a:gdLst/>
            <a:ahLst/>
            <a:cxnLst/>
            <a:rect r="r" b="b" t="t" l="l"/>
            <a:pathLst>
              <a:path h="1945894" w="2843828">
                <a:moveTo>
                  <a:pt x="0" y="0"/>
                </a:moveTo>
                <a:lnTo>
                  <a:pt x="2843828" y="0"/>
                </a:lnTo>
                <a:lnTo>
                  <a:pt x="284382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55110" y="3214004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892622" y="3640352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59464" y="428533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092354" y="428533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925244" y="428533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47196" y="428533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98842" y="428533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7818" y="5990729"/>
            <a:ext cx="3500096" cy="1945894"/>
          </a:xfrm>
          <a:custGeom>
            <a:avLst/>
            <a:gdLst/>
            <a:ahLst/>
            <a:cxnLst/>
            <a:rect r="r" b="b" t="t" l="l"/>
            <a:pathLst>
              <a:path h="1945894" w="3500096">
                <a:moveTo>
                  <a:pt x="0" y="0"/>
                </a:moveTo>
                <a:lnTo>
                  <a:pt x="3500096" y="0"/>
                </a:lnTo>
                <a:lnTo>
                  <a:pt x="350009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45330" y="620936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82842" y="6854356"/>
            <a:ext cx="2406316" cy="218640"/>
          </a:xfrm>
          <a:custGeom>
            <a:avLst/>
            <a:gdLst/>
            <a:ahLst/>
            <a:cxnLst/>
            <a:rect r="r" b="b" t="t" l="l"/>
            <a:pathLst>
              <a:path h="218640" w="2406316">
                <a:moveTo>
                  <a:pt x="0" y="0"/>
                </a:moveTo>
                <a:lnTo>
                  <a:pt x="2406316" y="0"/>
                </a:lnTo>
                <a:lnTo>
                  <a:pt x="240631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45330" y="7062064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78719" y="7237530"/>
            <a:ext cx="2678906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Measured Distance ↑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42770" y="5910719"/>
            <a:ext cx="1396792" cy="7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7"/>
              </a:lnSpc>
            </a:pPr>
            <a:r>
              <a:rPr lang="en-US" sz="266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Ultrasonic</a:t>
            </a:r>
          </a:p>
          <a:p>
            <a:pPr algn="ctr">
              <a:lnSpc>
                <a:spcPts val="2927"/>
              </a:lnSpc>
            </a:pPr>
            <a:r>
              <a:rPr lang="en-US" sz="266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Sensor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09489" y="5965286"/>
            <a:ext cx="1142636" cy="38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2"/>
              </a:lnSpc>
            </a:pPr>
            <a:r>
              <a:rPr lang="en-US" sz="281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Arduino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37417" y="5920103"/>
            <a:ext cx="1151747" cy="38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2"/>
              </a:lnSpc>
            </a:pPr>
            <a:r>
              <a:rPr lang="en-US" sz="281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PySerial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87112" y="5910719"/>
            <a:ext cx="1360263" cy="7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7"/>
              </a:lnSpc>
            </a:pPr>
            <a:r>
              <a:rPr lang="en-US" sz="266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Python</a:t>
            </a:r>
          </a:p>
          <a:p>
            <a:pPr algn="ctr">
              <a:lnSpc>
                <a:spcPts val="2927"/>
              </a:lnSpc>
            </a:pPr>
            <a:r>
              <a:rPr lang="en-US" sz="266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Tkinter UI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988183" y="5910719"/>
            <a:ext cx="1358871" cy="7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7"/>
              </a:lnSpc>
            </a:pPr>
            <a:r>
              <a:rPr lang="en-US" sz="266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Warning /</a:t>
            </a:r>
          </a:p>
          <a:p>
            <a:pPr algn="ctr">
              <a:lnSpc>
                <a:spcPts val="2927"/>
              </a:lnSpc>
            </a:pPr>
            <a:r>
              <a:rPr lang="en-US" sz="2662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Status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478220" y="7707051"/>
            <a:ext cx="11331560" cy="1508614"/>
          </a:xfrm>
          <a:custGeom>
            <a:avLst/>
            <a:gdLst/>
            <a:ahLst/>
            <a:cxnLst/>
            <a:rect r="r" b="b" t="t" l="l"/>
            <a:pathLst>
              <a:path h="1508614" w="11331560">
                <a:moveTo>
                  <a:pt x="0" y="0"/>
                </a:moveTo>
                <a:lnTo>
                  <a:pt x="11331560" y="0"/>
                </a:lnTo>
                <a:lnTo>
                  <a:pt x="11331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209654" y="8311761"/>
            <a:ext cx="9653131" cy="57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9"/>
              </a:lnSpc>
            </a:pPr>
            <a:r>
              <a:rPr lang="en-US" sz="4359" b="true">
                <a:solidFill>
                  <a:srgbClr val="258D8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Automatic real-time saline level monitoring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8719" y="6454366"/>
            <a:ext cx="2678906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b="true">
                <a:solidFill>
                  <a:srgbClr val="061F53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Saline Level ↓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6886" y="773663"/>
            <a:ext cx="9889545" cy="1070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4"/>
              </a:lnSpc>
            </a:pPr>
            <a:r>
              <a:rPr lang="en-US" sz="8074" b="true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HOW DOES IT WORK?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924030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2776725"/>
            <a:ext cx="2625072" cy="2798589"/>
          </a:xfrm>
          <a:custGeom>
            <a:avLst/>
            <a:gdLst/>
            <a:ahLst/>
            <a:cxnLst/>
            <a:rect r="r" b="b" t="t" l="l"/>
            <a:pathLst>
              <a:path h="2798589" w="2625072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1598" y="2350377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7682" y="2602722"/>
            <a:ext cx="298465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b="true" sz="2436" spc="-72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3421712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5781" y="6241297"/>
            <a:ext cx="2303859" cy="101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Ultrasonic sensor emits waves toward saline surface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21952" y="3848060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59464" y="2776725"/>
            <a:ext cx="2625072" cy="2798589"/>
          </a:xfrm>
          <a:custGeom>
            <a:avLst/>
            <a:gdLst/>
            <a:ahLst/>
            <a:cxnLst/>
            <a:rect r="r" b="b" t="t" l="l"/>
            <a:pathLst>
              <a:path h="2798589" w="2625072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134488" y="2350377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37323" y="2593197"/>
            <a:ext cx="298465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b="true" sz="2411" spc="-71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915732" y="2995365"/>
            <a:ext cx="1093780" cy="2372241"/>
          </a:xfrm>
          <a:custGeom>
            <a:avLst/>
            <a:gdLst/>
            <a:ahLst/>
            <a:cxnLst/>
            <a:rect r="r" b="b" t="t" l="l"/>
            <a:pathLst>
              <a:path h="2372241" w="1093780">
                <a:moveTo>
                  <a:pt x="0" y="0"/>
                </a:moveTo>
                <a:lnTo>
                  <a:pt x="1093780" y="0"/>
                </a:lnTo>
                <a:lnTo>
                  <a:pt x="109378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29000" y="6245201"/>
            <a:ext cx="2303859" cy="6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Calculates distance to saline surface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654842" y="3848060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311110" y="2776725"/>
            <a:ext cx="2406316" cy="2798589"/>
          </a:xfrm>
          <a:custGeom>
            <a:avLst/>
            <a:gdLst/>
            <a:ahLst/>
            <a:cxnLst/>
            <a:rect r="r" b="b" t="t" l="l"/>
            <a:pathLst>
              <a:path h="2798589" w="2406316">
                <a:moveTo>
                  <a:pt x="0" y="0"/>
                </a:moveTo>
                <a:lnTo>
                  <a:pt x="2406316" y="0"/>
                </a:lnTo>
                <a:lnTo>
                  <a:pt x="240631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75196" y="2350377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29866" y="3214004"/>
            <a:ext cx="2187560" cy="1934962"/>
          </a:xfrm>
          <a:custGeom>
            <a:avLst/>
            <a:gdLst/>
            <a:ahLst/>
            <a:cxnLst/>
            <a:rect r="r" b="b" t="t" l="l"/>
            <a:pathLst>
              <a:path h="1934962" w="2187560">
                <a:moveTo>
                  <a:pt x="0" y="0"/>
                </a:moveTo>
                <a:lnTo>
                  <a:pt x="2187560" y="0"/>
                </a:lnTo>
                <a:lnTo>
                  <a:pt x="218756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375797" y="6245201"/>
            <a:ext cx="2303859" cy="6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Arduino reads</a:t>
            </a:r>
          </a:p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sensor value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706488" y="3848060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44000" y="2776725"/>
            <a:ext cx="2614134" cy="2798589"/>
          </a:xfrm>
          <a:custGeom>
            <a:avLst/>
            <a:gdLst/>
            <a:ahLst/>
            <a:cxnLst/>
            <a:rect r="r" b="b" t="t" l="l"/>
            <a:pathLst>
              <a:path h="2798589" w="2614134">
                <a:moveTo>
                  <a:pt x="0" y="0"/>
                </a:moveTo>
                <a:lnTo>
                  <a:pt x="2614134" y="0"/>
                </a:lnTo>
                <a:lnTo>
                  <a:pt x="261413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008086" y="2350377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70574" y="3421712"/>
            <a:ext cx="1760986" cy="1508614"/>
          </a:xfrm>
          <a:custGeom>
            <a:avLst/>
            <a:gdLst/>
            <a:ahLst/>
            <a:cxnLst/>
            <a:rect r="r" b="b" t="t" l="l"/>
            <a:pathLst>
              <a:path h="1508614" w="1760986">
                <a:moveTo>
                  <a:pt x="0" y="0"/>
                </a:moveTo>
                <a:lnTo>
                  <a:pt x="1760986" y="0"/>
                </a:lnTo>
                <a:lnTo>
                  <a:pt x="176098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47325" y="5665609"/>
            <a:ext cx="1250800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Transfer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2594" y="6245201"/>
            <a:ext cx="2303859" cy="6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PySerial sends</a:t>
            </a:r>
          </a:p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data to computer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528440" y="3848060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965952" y="2776725"/>
            <a:ext cx="2625072" cy="2798589"/>
          </a:xfrm>
          <a:custGeom>
            <a:avLst/>
            <a:gdLst/>
            <a:ahLst/>
            <a:cxnLst/>
            <a:rect r="r" b="b" t="t" l="l"/>
            <a:pathLst>
              <a:path h="2798589" w="2625072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059732" y="2350377"/>
            <a:ext cx="656268" cy="874559"/>
          </a:xfrm>
          <a:custGeom>
            <a:avLst/>
            <a:gdLst/>
            <a:ahLst/>
            <a:cxnLst/>
            <a:rect r="r" b="b" t="t" l="l"/>
            <a:pathLst>
              <a:path h="874559" w="656268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965952" y="3214004"/>
            <a:ext cx="2625072" cy="1934962"/>
          </a:xfrm>
          <a:custGeom>
            <a:avLst/>
            <a:gdLst/>
            <a:ahLst/>
            <a:cxnLst/>
            <a:rect r="r" b="b" t="t" l="l"/>
            <a:pathLst>
              <a:path h="1934962" w="2625072">
                <a:moveTo>
                  <a:pt x="0" y="0"/>
                </a:moveTo>
                <a:lnTo>
                  <a:pt x="2625072" y="0"/>
                </a:lnTo>
                <a:lnTo>
                  <a:pt x="262507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744304" y="5665609"/>
            <a:ext cx="1093644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Display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62234" y="6245201"/>
            <a:ext cx="2303859" cy="6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Python Tkinter shows current status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361330" y="3848060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017598" y="2776725"/>
            <a:ext cx="2625072" cy="2798589"/>
          </a:xfrm>
          <a:custGeom>
            <a:avLst/>
            <a:gdLst/>
            <a:ahLst/>
            <a:cxnLst/>
            <a:rect r="r" b="b" t="t" l="l"/>
            <a:pathLst>
              <a:path h="2798589" w="2625072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892622" y="2350377"/>
            <a:ext cx="656268" cy="874559"/>
          </a:xfrm>
          <a:custGeom>
            <a:avLst/>
            <a:gdLst/>
            <a:ahLst/>
            <a:cxnLst/>
            <a:rect r="r" b="b" t="t" l="l"/>
            <a:pathLst>
              <a:path h="874559" w="656268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455110" y="3214004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5216188" y="6245201"/>
            <a:ext cx="2143125" cy="6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spc="-67">
                <a:solidFill>
                  <a:srgbClr val="082454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If distance crosses threshold →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2821952" y="7499343"/>
            <a:ext cx="12206584" cy="2153601"/>
          </a:xfrm>
          <a:custGeom>
            <a:avLst/>
            <a:gdLst/>
            <a:ahLst/>
            <a:cxnLst/>
            <a:rect r="r" b="b" t="t" l="l"/>
            <a:pathLst>
              <a:path h="2153601" w="12206584">
                <a:moveTo>
                  <a:pt x="0" y="0"/>
                </a:moveTo>
                <a:lnTo>
                  <a:pt x="12206584" y="0"/>
                </a:lnTo>
                <a:lnTo>
                  <a:pt x="1220658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259464" y="7707051"/>
            <a:ext cx="667206" cy="1727254"/>
          </a:xfrm>
          <a:custGeom>
            <a:avLst/>
            <a:gdLst/>
            <a:ahLst/>
            <a:cxnLst/>
            <a:rect r="r" b="b" t="t" l="l"/>
            <a:pathLst>
              <a:path h="1727254" w="667206">
                <a:moveTo>
                  <a:pt x="0" y="0"/>
                </a:moveTo>
                <a:lnTo>
                  <a:pt x="667206" y="0"/>
                </a:lnTo>
                <a:lnTo>
                  <a:pt x="667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4211063" y="8421743"/>
            <a:ext cx="1765219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Saline Level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6092354" y="8352038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748622" y="8352038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831464" y="7925691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772608" y="8421743"/>
            <a:ext cx="1273565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Distance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0008086" y="8352038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1101866" y="8352038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965952" y="7925691"/>
            <a:ext cx="1104718" cy="1508614"/>
          </a:xfrm>
          <a:custGeom>
            <a:avLst/>
            <a:gdLst/>
            <a:ahLst/>
            <a:cxnLst/>
            <a:rect r="r" b="b" t="t" l="l"/>
            <a:pathLst>
              <a:path h="1508614" w="1104718">
                <a:moveTo>
                  <a:pt x="0" y="0"/>
                </a:moveTo>
                <a:lnTo>
                  <a:pt x="1104718" y="0"/>
                </a:lnTo>
                <a:lnTo>
                  <a:pt x="110471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3295132" y="8421743"/>
            <a:ext cx="1281077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Warning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407637" y="6960841"/>
            <a:ext cx="1717364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b="true" sz="2558" spc="-76">
                <a:solidFill>
                  <a:srgbClr val="188487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LOW SALINE WARNING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929683" y="5665609"/>
            <a:ext cx="1256415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Measure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935480" y="5665609"/>
            <a:ext cx="1138415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Process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76509" y="5665609"/>
            <a:ext cx="976327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Detect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889743" y="5665609"/>
            <a:ext cx="753151" cy="42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b="true" sz="2906" spc="-86">
                <a:solidFill>
                  <a:srgbClr val="082454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Alert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57331" y="2602722"/>
            <a:ext cx="298465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b="true" sz="2436" spc="-72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23760" y="2593196"/>
            <a:ext cx="298465" cy="35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b="true" sz="2362" spc="-70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04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224135" y="2593196"/>
            <a:ext cx="298465" cy="35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b="true" sz="2362" spc="-70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05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090565" y="2602121"/>
            <a:ext cx="29846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</a:pPr>
            <a:r>
              <a:rPr lang="en-US" b="true" sz="2313" spc="-68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06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5753" y="544922"/>
            <a:ext cx="10039561" cy="112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8"/>
              </a:lnSpc>
            </a:pPr>
            <a:r>
              <a:rPr lang="en-US" sz="7430" b="true">
                <a:solidFill>
                  <a:srgbClr val="0829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SYSTEM 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705390"/>
            <a:ext cx="2187560" cy="448211"/>
          </a:xfrm>
          <a:custGeom>
            <a:avLst/>
            <a:gdLst/>
            <a:ahLst/>
            <a:cxnLst/>
            <a:rect r="r" b="b" t="t" l="l"/>
            <a:pathLst>
              <a:path h="448211" w="2187560">
                <a:moveTo>
                  <a:pt x="0" y="0"/>
                </a:moveTo>
                <a:lnTo>
                  <a:pt x="2187560" y="0"/>
                </a:lnTo>
                <a:lnTo>
                  <a:pt x="218756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2350377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4066699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1561" y="4746898"/>
            <a:ext cx="1396879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>
                    <a:alpha val="69804"/>
                  </a:srgbClr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Contains saline solution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21952" y="2350377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1952" y="4066699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25290" y="4746898"/>
            <a:ext cx="1695056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Measures distance to liquid surface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36086" y="2350377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36086" y="4066699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62849" y="4746898"/>
            <a:ext cx="2038983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Processes sensor data and controls system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612708" y="2995365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06488" y="2350377"/>
            <a:ext cx="1750048" cy="1945894"/>
          </a:xfrm>
          <a:custGeom>
            <a:avLst/>
            <a:gdLst/>
            <a:ahLst/>
            <a:cxnLst/>
            <a:rect r="r" b="b" t="t" l="l"/>
            <a:pathLst>
              <a:path h="1945894" w="1750048">
                <a:moveTo>
                  <a:pt x="0" y="0"/>
                </a:moveTo>
                <a:lnTo>
                  <a:pt x="1750048" y="0"/>
                </a:lnTo>
                <a:lnTo>
                  <a:pt x="175004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06488" y="4066699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854745" y="4746898"/>
            <a:ext cx="1382539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Handles serial communication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101866" y="2350377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01866" y="4066699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254588" y="4746898"/>
            <a:ext cx="1539367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Processes data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and applies logic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278488" y="2350377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497244" y="4066699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503663" y="4746898"/>
            <a:ext cx="1674115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Displays real-time information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673866" y="2350377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673866" y="4066699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967110" y="4144464"/>
            <a:ext cx="1330831" cy="39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b="true" sz="1392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SALINE STATUS / ALERT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05271" y="4792080"/>
            <a:ext cx="1849152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Indicates reel status and alerts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384440" y="2995365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998574" y="299536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45598" y="299536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840976" y="299536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236354" y="299536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26574" y="5783021"/>
            <a:ext cx="17216096" cy="3869923"/>
          </a:xfrm>
          <a:custGeom>
            <a:avLst/>
            <a:gdLst/>
            <a:ahLst/>
            <a:cxnLst/>
            <a:rect r="r" b="b" t="t" l="l"/>
            <a:pathLst>
              <a:path h="3869923" w="17216096">
                <a:moveTo>
                  <a:pt x="0" y="0"/>
                </a:moveTo>
                <a:lnTo>
                  <a:pt x="17216096" y="0"/>
                </a:lnTo>
                <a:lnTo>
                  <a:pt x="17216096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45330" y="5783021"/>
            <a:ext cx="2406316" cy="655919"/>
          </a:xfrm>
          <a:custGeom>
            <a:avLst/>
            <a:gdLst/>
            <a:ahLst/>
            <a:cxnLst/>
            <a:rect r="r" b="b" t="t" l="l"/>
            <a:pathLst>
              <a:path h="655919" w="2406316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81851" y="6017544"/>
            <a:ext cx="1788910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b="true" sz="1513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TECHNOLOGY STACK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645330" y="6209369"/>
            <a:ext cx="2187560" cy="3224936"/>
          </a:xfrm>
          <a:custGeom>
            <a:avLst/>
            <a:gdLst/>
            <a:ahLst/>
            <a:cxnLst/>
            <a:rect r="r" b="b" t="t" l="l"/>
            <a:pathLst>
              <a:path h="3224936" w="2187560">
                <a:moveTo>
                  <a:pt x="0" y="0"/>
                </a:moveTo>
                <a:lnTo>
                  <a:pt x="2187560" y="0"/>
                </a:lnTo>
                <a:lnTo>
                  <a:pt x="218756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82842" y="7062064"/>
            <a:ext cx="1531292" cy="1519546"/>
          </a:xfrm>
          <a:custGeom>
            <a:avLst/>
            <a:gdLst/>
            <a:ahLst/>
            <a:cxnLst/>
            <a:rect r="r" b="b" t="t" l="l"/>
            <a:pathLst>
              <a:path h="1519546" w="1531292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76819" y="8632595"/>
            <a:ext cx="1654313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Sensor control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and data handling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2821952" y="6209369"/>
            <a:ext cx="2187560" cy="3224936"/>
          </a:xfrm>
          <a:custGeom>
            <a:avLst/>
            <a:gdLst/>
            <a:ahLst/>
            <a:cxnLst/>
            <a:rect r="r" b="b" t="t" l="l"/>
            <a:pathLst>
              <a:path h="3224936" w="2187560">
                <a:moveTo>
                  <a:pt x="0" y="0"/>
                </a:moveTo>
                <a:lnTo>
                  <a:pt x="2187560" y="0"/>
                </a:lnTo>
                <a:lnTo>
                  <a:pt x="218756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293238" y="6584320"/>
            <a:ext cx="1359159" cy="535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1862">
                <a:solidFill>
                  <a:srgbClr val="3696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ULTRASONIC</a:t>
            </a:r>
          </a:p>
          <a:p>
            <a:pPr algn="ctr">
              <a:lnSpc>
                <a:spcPts val="2234"/>
              </a:lnSpc>
            </a:pPr>
            <a:r>
              <a:rPr lang="en-US" b="true" sz="1862">
                <a:solidFill>
                  <a:srgbClr val="3696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SENSOR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3259464" y="7280704"/>
            <a:ext cx="1531292" cy="1300906"/>
          </a:xfrm>
          <a:custGeom>
            <a:avLst/>
            <a:gdLst/>
            <a:ahLst/>
            <a:cxnLst/>
            <a:rect r="r" b="b" t="t" l="l"/>
            <a:pathLst>
              <a:path h="1300906" w="1531292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385002" y="8632595"/>
            <a:ext cx="1254391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Distance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measurement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4998574" y="6209369"/>
            <a:ext cx="2187560" cy="3224936"/>
          </a:xfrm>
          <a:custGeom>
            <a:avLst/>
            <a:gdLst/>
            <a:ahLst/>
            <a:cxnLst/>
            <a:rect r="r" b="b" t="t" l="l"/>
            <a:pathLst>
              <a:path h="3224936" w="2187560">
                <a:moveTo>
                  <a:pt x="0" y="0"/>
                </a:moveTo>
                <a:lnTo>
                  <a:pt x="2187560" y="0"/>
                </a:lnTo>
                <a:lnTo>
                  <a:pt x="218756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5684428" y="6734929"/>
            <a:ext cx="1009835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1862">
                <a:solidFill>
                  <a:srgbClr val="3696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PYSERIAL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5436086" y="7280704"/>
            <a:ext cx="1323474" cy="1082267"/>
          </a:xfrm>
          <a:custGeom>
            <a:avLst/>
            <a:gdLst/>
            <a:ahLst/>
            <a:cxnLst/>
            <a:rect r="r" b="b" t="t" l="l"/>
            <a:pathLst>
              <a:path h="1082267" w="1323474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5494593" y="8632595"/>
            <a:ext cx="1382539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Serial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communication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7175196" y="6209369"/>
            <a:ext cx="2187560" cy="3224936"/>
          </a:xfrm>
          <a:custGeom>
            <a:avLst/>
            <a:gdLst/>
            <a:ahLst/>
            <a:cxnLst/>
            <a:rect r="r" b="b" t="t" l="l"/>
            <a:pathLst>
              <a:path h="3224936" w="2187560">
                <a:moveTo>
                  <a:pt x="0" y="0"/>
                </a:moveTo>
                <a:lnTo>
                  <a:pt x="2187560" y="0"/>
                </a:lnTo>
                <a:lnTo>
                  <a:pt x="218756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7612708" y="7280704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7590440" y="8632595"/>
            <a:ext cx="1474951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Data processing and logic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351818" y="6209369"/>
            <a:ext cx="2187560" cy="3224936"/>
          </a:xfrm>
          <a:custGeom>
            <a:avLst/>
            <a:gdLst/>
            <a:ahLst/>
            <a:cxnLst/>
            <a:rect r="r" b="b" t="t" l="l"/>
            <a:pathLst>
              <a:path h="3224936" w="2187560">
                <a:moveTo>
                  <a:pt x="0" y="0"/>
                </a:moveTo>
                <a:lnTo>
                  <a:pt x="2187560" y="0"/>
                </a:lnTo>
                <a:lnTo>
                  <a:pt x="218756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008086" y="7280704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9731139" y="8632595"/>
            <a:ext cx="1532311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User interface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0829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and visualization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1747196" y="5783021"/>
            <a:ext cx="3500096" cy="655919"/>
          </a:xfrm>
          <a:custGeom>
            <a:avLst/>
            <a:gdLst/>
            <a:ahLst/>
            <a:cxnLst/>
            <a:rect r="r" b="b" t="t" l="l"/>
            <a:pathLst>
              <a:path h="655919" w="3500096">
                <a:moveTo>
                  <a:pt x="0" y="0"/>
                </a:moveTo>
                <a:lnTo>
                  <a:pt x="3500096" y="0"/>
                </a:lnTo>
                <a:lnTo>
                  <a:pt x="350009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2068087" y="6017544"/>
            <a:ext cx="2832375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b="true" sz="1513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PROTOTYPE SETUP (HARDWARE)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1747196" y="6209369"/>
            <a:ext cx="5895474" cy="3224936"/>
          </a:xfrm>
          <a:custGeom>
            <a:avLst/>
            <a:gdLst/>
            <a:ahLst/>
            <a:cxnLst/>
            <a:rect r="r" b="b" t="t" l="l"/>
            <a:pathLst>
              <a:path h="3224936" w="5895474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2403464" y="6635716"/>
            <a:ext cx="5020450" cy="2798589"/>
          </a:xfrm>
          <a:custGeom>
            <a:avLst/>
            <a:gdLst/>
            <a:ahLst/>
            <a:cxnLst/>
            <a:rect r="r" b="b" t="t" l="l"/>
            <a:pathLst>
              <a:path h="2798589" w="5020450">
                <a:moveTo>
                  <a:pt x="0" y="0"/>
                </a:moveTo>
                <a:lnTo>
                  <a:pt x="5020450" y="0"/>
                </a:lnTo>
                <a:lnTo>
                  <a:pt x="5020450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1490118" y="4144464"/>
            <a:ext cx="1068306" cy="39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b="true" sz="1392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PYTHON</a:t>
            </a:r>
          </a:p>
          <a:p>
            <a:pPr algn="ctr">
              <a:lnSpc>
                <a:spcPts val="1670"/>
              </a:lnSpc>
            </a:pPr>
            <a:r>
              <a:rPr lang="en-US" b="true" sz="1392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APPLICATION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783105" y="2548015"/>
            <a:ext cx="695822" cy="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1740">
                <a:solidFill>
                  <a:srgbClr val="0829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USB /</a:t>
            </a:r>
          </a:p>
          <a:p>
            <a:pPr algn="ctr">
              <a:lnSpc>
                <a:spcPts val="2088"/>
              </a:lnSpc>
            </a:pPr>
            <a:r>
              <a:rPr lang="en-US" b="true" sz="1740">
                <a:solidFill>
                  <a:srgbClr val="0829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SERIAL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48067" y="4195182"/>
            <a:ext cx="1849501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b="true" sz="1513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ULTRASONIC SENSOR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67744" y="4195182"/>
            <a:ext cx="1324512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b="true" sz="1513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SALINE BOTTLE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13772" y="6734929"/>
            <a:ext cx="993802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1862">
                <a:solidFill>
                  <a:srgbClr val="3696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ARDUINO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054311" y="6734929"/>
            <a:ext cx="896146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1862">
                <a:solidFill>
                  <a:srgbClr val="3696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TKINTER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802508" y="4195182"/>
            <a:ext cx="1076425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b="true" sz="1513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TKINTER GUI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882523" y="6734929"/>
            <a:ext cx="877927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1862">
                <a:solidFill>
                  <a:srgbClr val="3696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PYTHON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178632" y="4195182"/>
            <a:ext cx="807417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b="true" sz="1513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ARDUINO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135793" y="4195182"/>
            <a:ext cx="820443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b="true" sz="1513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PYSERIAL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529" y="883539"/>
            <a:ext cx="14504113" cy="99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5"/>
              </a:lnSpc>
            </a:pPr>
            <a:r>
              <a:rPr lang="en-US" sz="7505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PROTOTYPE → IMPACT → FUTURE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142670"/>
            <a:ext cx="2187560" cy="218640"/>
          </a:xfrm>
          <a:custGeom>
            <a:avLst/>
            <a:gdLst/>
            <a:ahLst/>
            <a:cxnLst/>
            <a:rect r="r" b="b" t="t" l="l"/>
            <a:pathLst>
              <a:path h="218640" w="2187560">
                <a:moveTo>
                  <a:pt x="0" y="0"/>
                </a:moveTo>
                <a:lnTo>
                  <a:pt x="2187560" y="0"/>
                </a:lnTo>
                <a:lnTo>
                  <a:pt x="2187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76622" y="2350377"/>
            <a:ext cx="4582938" cy="7302567"/>
          </a:xfrm>
          <a:custGeom>
            <a:avLst/>
            <a:gdLst/>
            <a:ahLst/>
            <a:cxnLst/>
            <a:rect r="r" b="b" t="t" l="l"/>
            <a:pathLst>
              <a:path h="7302567" w="4582938">
                <a:moveTo>
                  <a:pt x="0" y="0"/>
                </a:moveTo>
                <a:lnTo>
                  <a:pt x="4582938" y="0"/>
                </a:lnTo>
                <a:lnTo>
                  <a:pt x="4582938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47729" y="2641197"/>
            <a:ext cx="1991010" cy="38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b="true" sz="2923">
                <a:solidFill>
                  <a:srgbClr val="1F999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PROTOTYPE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84440" y="3214004"/>
            <a:ext cx="4156364" cy="1934962"/>
          </a:xfrm>
          <a:custGeom>
            <a:avLst/>
            <a:gdLst/>
            <a:ahLst/>
            <a:cxnLst/>
            <a:rect r="r" b="b" t="t" l="l"/>
            <a:pathLst>
              <a:path h="1934962" w="4156364">
                <a:moveTo>
                  <a:pt x="0" y="0"/>
                </a:moveTo>
                <a:lnTo>
                  <a:pt x="4156364" y="0"/>
                </a:lnTo>
                <a:lnTo>
                  <a:pt x="415636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17361" y="5278062"/>
            <a:ext cx="2943629" cy="27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039" spc="-40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Arduino + Ultrasonic Sensor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134488" y="5564382"/>
            <a:ext cx="656268" cy="874559"/>
          </a:xfrm>
          <a:custGeom>
            <a:avLst/>
            <a:gdLst/>
            <a:ahLst/>
            <a:cxnLst/>
            <a:rect r="r" b="b" t="t" l="l"/>
            <a:pathLst>
              <a:path h="874559" w="656268">
                <a:moveTo>
                  <a:pt x="0" y="0"/>
                </a:moveTo>
                <a:lnTo>
                  <a:pt x="656268" y="0"/>
                </a:lnTo>
                <a:lnTo>
                  <a:pt x="65626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84440" y="6428009"/>
            <a:ext cx="4156364" cy="2579949"/>
          </a:xfrm>
          <a:custGeom>
            <a:avLst/>
            <a:gdLst/>
            <a:ahLst/>
            <a:cxnLst/>
            <a:rect r="r" b="b" t="t" l="l"/>
            <a:pathLst>
              <a:path h="2579949" w="4156364">
                <a:moveTo>
                  <a:pt x="0" y="0"/>
                </a:moveTo>
                <a:lnTo>
                  <a:pt x="4156364" y="0"/>
                </a:lnTo>
                <a:lnTo>
                  <a:pt x="4156364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61521" y="8952907"/>
            <a:ext cx="3169802" cy="27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039" spc="-40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Tkinter Monitoring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328" y="5001494"/>
            <a:ext cx="1078669" cy="6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2540" spc="-50">
                <a:solidFill>
                  <a:srgbClr val="1F999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Physical</a:t>
            </a:r>
          </a:p>
          <a:p>
            <a:pPr algn="ctr">
              <a:lnSpc>
                <a:spcPts val="2793"/>
              </a:lnSpc>
            </a:pPr>
            <a:r>
              <a:rPr lang="en-US" b="true" sz="2540" spc="-50">
                <a:solidFill>
                  <a:srgbClr val="1F999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Sensor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82842" y="5783021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8929" y="6643125"/>
            <a:ext cx="1437467" cy="68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2540" spc="-50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Digital</a:t>
            </a:r>
          </a:p>
          <a:p>
            <a:pPr algn="ctr">
              <a:lnSpc>
                <a:spcPts val="2793"/>
              </a:lnSpc>
            </a:pPr>
            <a:r>
              <a:rPr lang="en-US" b="true" sz="2540" spc="-50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Dashboard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48622" y="2350377"/>
            <a:ext cx="4790756" cy="7302567"/>
          </a:xfrm>
          <a:custGeom>
            <a:avLst/>
            <a:gdLst/>
            <a:ahLst/>
            <a:cxnLst/>
            <a:rect r="r" b="b" t="t" l="l"/>
            <a:pathLst>
              <a:path h="7302567" w="4790756">
                <a:moveTo>
                  <a:pt x="0" y="0"/>
                </a:moveTo>
                <a:lnTo>
                  <a:pt x="4790756" y="0"/>
                </a:lnTo>
                <a:lnTo>
                  <a:pt x="4790756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492896" y="2641197"/>
            <a:ext cx="1276847" cy="38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b="true" sz="2923">
                <a:solidFill>
                  <a:srgbClr val="1F999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IMPACT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956440" y="3214004"/>
            <a:ext cx="4375120" cy="1508614"/>
          </a:xfrm>
          <a:custGeom>
            <a:avLst/>
            <a:gdLst/>
            <a:ahLst/>
            <a:cxnLst/>
            <a:rect r="r" b="b" t="t" l="l"/>
            <a:pathLst>
              <a:path h="1508614" w="4375120">
                <a:moveTo>
                  <a:pt x="0" y="0"/>
                </a:moveTo>
                <a:lnTo>
                  <a:pt x="4375120" y="0"/>
                </a:lnTo>
                <a:lnTo>
                  <a:pt x="437512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75196" y="342171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422946" y="3576288"/>
            <a:ext cx="1560901" cy="7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Continuous</a:t>
            </a:r>
          </a:p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Monitoring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956440" y="4711687"/>
            <a:ext cx="4375120" cy="1508614"/>
          </a:xfrm>
          <a:custGeom>
            <a:avLst/>
            <a:gdLst/>
            <a:ahLst/>
            <a:cxnLst/>
            <a:rect r="r" b="b" t="t" l="l"/>
            <a:pathLst>
              <a:path h="1508614" w="4375120">
                <a:moveTo>
                  <a:pt x="0" y="0"/>
                </a:moveTo>
                <a:lnTo>
                  <a:pt x="4375120" y="0"/>
                </a:lnTo>
                <a:lnTo>
                  <a:pt x="437512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175196" y="4919394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426570" y="5067312"/>
            <a:ext cx="1198426" cy="7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Early</a:t>
            </a:r>
          </a:p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Warning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956440" y="6209369"/>
            <a:ext cx="4375120" cy="1508614"/>
          </a:xfrm>
          <a:custGeom>
            <a:avLst/>
            <a:gdLst/>
            <a:ahLst/>
            <a:cxnLst/>
            <a:rect r="r" b="b" t="t" l="l"/>
            <a:pathLst>
              <a:path h="1508614" w="4375120">
                <a:moveTo>
                  <a:pt x="0" y="0"/>
                </a:moveTo>
                <a:lnTo>
                  <a:pt x="4375120" y="0"/>
                </a:lnTo>
                <a:lnTo>
                  <a:pt x="437512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175196" y="6428009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415066" y="6573396"/>
            <a:ext cx="2348832" cy="7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Reduced</a:t>
            </a:r>
          </a:p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Manual Checking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956440" y="7707051"/>
            <a:ext cx="4375120" cy="1508614"/>
          </a:xfrm>
          <a:custGeom>
            <a:avLst/>
            <a:gdLst/>
            <a:ahLst/>
            <a:cxnLst/>
            <a:rect r="r" b="b" t="t" l="l"/>
            <a:pathLst>
              <a:path h="1508614" w="4375120">
                <a:moveTo>
                  <a:pt x="0" y="0"/>
                </a:moveTo>
                <a:lnTo>
                  <a:pt x="4375120" y="0"/>
                </a:lnTo>
                <a:lnTo>
                  <a:pt x="437512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75196" y="7925691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425353" y="8049358"/>
            <a:ext cx="1320179" cy="7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Low-Cost</a:t>
            </a:r>
          </a:p>
          <a:p>
            <a:pPr algn="l">
              <a:lnSpc>
                <a:spcPts val="2927"/>
              </a:lnSpc>
            </a:pPr>
            <a:r>
              <a:rPr lang="en-US" sz="2662" spc="-53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Solution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528440" y="2350377"/>
            <a:ext cx="5895474" cy="7302567"/>
          </a:xfrm>
          <a:custGeom>
            <a:avLst/>
            <a:gdLst/>
            <a:ahLst/>
            <a:cxnLst/>
            <a:rect r="r" b="b" t="t" l="l"/>
            <a:pathLst>
              <a:path h="7302567" w="5895474">
                <a:moveTo>
                  <a:pt x="0" y="0"/>
                </a:moveTo>
                <a:lnTo>
                  <a:pt x="5895474" y="0"/>
                </a:lnTo>
                <a:lnTo>
                  <a:pt x="5895474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182269" y="2641197"/>
            <a:ext cx="2500142" cy="38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b="true" sz="2923">
                <a:solidFill>
                  <a:srgbClr val="1F999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FUTURE SCOPE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965952" y="3214004"/>
            <a:ext cx="885962" cy="6001661"/>
          </a:xfrm>
          <a:custGeom>
            <a:avLst/>
            <a:gdLst/>
            <a:ahLst/>
            <a:cxnLst/>
            <a:rect r="r" b="b" t="t" l="l"/>
            <a:pathLst>
              <a:path h="6001661" w="885962">
                <a:moveTo>
                  <a:pt x="0" y="0"/>
                </a:moveTo>
                <a:lnTo>
                  <a:pt x="885962" y="0"/>
                </a:lnTo>
                <a:lnTo>
                  <a:pt x="885962" y="6001661"/>
                </a:lnTo>
                <a:lnTo>
                  <a:pt x="0" y="600166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622220" y="3421712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622220" y="4493047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823156" y="4571761"/>
            <a:ext cx="3482578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spc="-45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Mobile Notifications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2622220" y="5564382"/>
            <a:ext cx="1093780" cy="229572"/>
          </a:xfrm>
          <a:custGeom>
            <a:avLst/>
            <a:gdLst/>
            <a:ahLst/>
            <a:cxnLst/>
            <a:rect r="r" b="b" t="t" l="l"/>
            <a:pathLst>
              <a:path h="229572" w="1093780">
                <a:moveTo>
                  <a:pt x="0" y="0"/>
                </a:moveTo>
                <a:lnTo>
                  <a:pt x="1093780" y="0"/>
                </a:lnTo>
                <a:lnTo>
                  <a:pt x="109378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823156" y="5550716"/>
            <a:ext cx="3482578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spc="-45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Multiple Bottle Monitoring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2622220" y="6428009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823156" y="6559792"/>
            <a:ext cx="3482578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spc="-45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Cloud Connectivity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622220" y="7499343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823156" y="7553808"/>
            <a:ext cx="3482578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spc="-45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Nurse-Station Alerts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622220" y="8570678"/>
            <a:ext cx="1093780" cy="218640"/>
          </a:xfrm>
          <a:custGeom>
            <a:avLst/>
            <a:gdLst/>
            <a:ahLst/>
            <a:cxnLst/>
            <a:rect r="r" b="b" t="t" l="l"/>
            <a:pathLst>
              <a:path h="218640" w="1093780">
                <a:moveTo>
                  <a:pt x="0" y="0"/>
                </a:moveTo>
                <a:lnTo>
                  <a:pt x="1093780" y="0"/>
                </a:lnTo>
                <a:lnTo>
                  <a:pt x="109378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3823156" y="8532762"/>
            <a:ext cx="3482578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spc="-45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Predictive Monitoring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23156" y="3577746"/>
            <a:ext cx="3482578" cy="3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250" spc="-45" b="true">
                <a:solidFill>
                  <a:srgbClr val="082A66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Current Prototype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0806" y="543636"/>
            <a:ext cx="12607730" cy="93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092C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FROM MANUAL MONITORING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0788" y="1462347"/>
            <a:ext cx="10609513" cy="93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249099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TO SMART MONITORING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350377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2842" y="2569017"/>
            <a:ext cx="2406316" cy="2361309"/>
          </a:xfrm>
          <a:custGeom>
            <a:avLst/>
            <a:gdLst/>
            <a:ahLst/>
            <a:cxnLst/>
            <a:rect r="r" b="b" t="t" l="l"/>
            <a:pathLst>
              <a:path h="2361309" w="2406316">
                <a:moveTo>
                  <a:pt x="0" y="0"/>
                </a:moveTo>
                <a:lnTo>
                  <a:pt x="2406316" y="0"/>
                </a:lnTo>
                <a:lnTo>
                  <a:pt x="240631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3482" y="4937153"/>
            <a:ext cx="1821833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36" b="true">
                <a:solidFill>
                  <a:srgbClr val="092C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Saline Bottle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53244" y="2569017"/>
            <a:ext cx="2406316" cy="2361309"/>
          </a:xfrm>
          <a:custGeom>
            <a:avLst/>
            <a:gdLst/>
            <a:ahLst/>
            <a:cxnLst/>
            <a:rect r="r" b="b" t="t" l="l"/>
            <a:pathLst>
              <a:path h="2361309" w="2406316">
                <a:moveTo>
                  <a:pt x="0" y="0"/>
                </a:moveTo>
                <a:lnTo>
                  <a:pt x="2406316" y="0"/>
                </a:lnTo>
                <a:lnTo>
                  <a:pt x="240631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99116" y="4937153"/>
            <a:ext cx="1007097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36" b="true">
                <a:solidFill>
                  <a:srgbClr val="092C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Sensor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612708" y="2569017"/>
            <a:ext cx="2406316" cy="2361309"/>
          </a:xfrm>
          <a:custGeom>
            <a:avLst/>
            <a:gdLst/>
            <a:ahLst/>
            <a:cxnLst/>
            <a:rect r="r" b="b" t="t" l="l"/>
            <a:pathLst>
              <a:path h="2361309" w="2406316">
                <a:moveTo>
                  <a:pt x="0" y="0"/>
                </a:moveTo>
                <a:lnTo>
                  <a:pt x="2406316" y="0"/>
                </a:lnTo>
                <a:lnTo>
                  <a:pt x="240631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51395" y="4937153"/>
            <a:ext cx="1131914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36" b="true">
                <a:solidFill>
                  <a:srgbClr val="092C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Arduino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83110" y="2350377"/>
            <a:ext cx="3051646" cy="2579949"/>
          </a:xfrm>
          <a:custGeom>
            <a:avLst/>
            <a:gdLst/>
            <a:ahLst/>
            <a:cxnLst/>
            <a:rect r="r" b="b" t="t" l="l"/>
            <a:pathLst>
              <a:path h="2579949" w="3051646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684076" y="4937153"/>
            <a:ext cx="1392443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36" b="true">
                <a:solidFill>
                  <a:srgbClr val="092C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Python UI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798842" y="2569017"/>
            <a:ext cx="2187560" cy="2361309"/>
          </a:xfrm>
          <a:custGeom>
            <a:avLst/>
            <a:gdLst/>
            <a:ahLst/>
            <a:cxnLst/>
            <a:rect r="r" b="b" t="t" l="l"/>
            <a:pathLst>
              <a:path h="2361309" w="2187560">
                <a:moveTo>
                  <a:pt x="0" y="0"/>
                </a:moveTo>
                <a:lnTo>
                  <a:pt x="2187560" y="0"/>
                </a:lnTo>
                <a:lnTo>
                  <a:pt x="218756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871982" y="4937153"/>
            <a:ext cx="1979644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36" b="true">
                <a:solidFill>
                  <a:srgbClr val="092C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Early Warning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478220" y="342171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48622" y="3421712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08086" y="342171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23818" y="342171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176622" y="5564382"/>
            <a:ext cx="13934756" cy="874559"/>
          </a:xfrm>
          <a:custGeom>
            <a:avLst/>
            <a:gdLst/>
            <a:ahLst/>
            <a:cxnLst/>
            <a:rect r="r" b="b" t="t" l="l"/>
            <a:pathLst>
              <a:path h="874559" w="13934756">
                <a:moveTo>
                  <a:pt x="0" y="0"/>
                </a:moveTo>
                <a:lnTo>
                  <a:pt x="13934756" y="0"/>
                </a:lnTo>
                <a:lnTo>
                  <a:pt x="1393475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22594" y="5834096"/>
            <a:ext cx="12058862" cy="38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923">
                <a:solidFill>
                  <a:srgbClr val="092C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A simple IoT solution for </a:t>
            </a:r>
            <a:r>
              <a:rPr lang="en-US" sz="2923" b="true">
                <a:solidFill>
                  <a:srgbClr val="1C9B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smarter</a:t>
            </a:r>
            <a:r>
              <a:rPr lang="en-US" sz="2923">
                <a:solidFill>
                  <a:srgbClr val="092C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 and </a:t>
            </a:r>
            <a:r>
              <a:rPr lang="en-US" sz="2923" b="true">
                <a:solidFill>
                  <a:srgbClr val="1C9B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proactive</a:t>
            </a:r>
            <a:r>
              <a:rPr lang="en-US" sz="2923">
                <a:solidFill>
                  <a:srgbClr val="092C60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 saline-level monitoring.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92843" y="6856865"/>
            <a:ext cx="2626918" cy="5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b="true" sz="4315" spc="86">
                <a:solidFill>
                  <a:srgbClr val="1C9B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MONITOR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748622" y="6635716"/>
            <a:ext cx="218756" cy="874559"/>
          </a:xfrm>
          <a:custGeom>
            <a:avLst/>
            <a:gdLst/>
            <a:ahLst/>
            <a:cxnLst/>
            <a:rect r="r" b="b" t="t" l="l"/>
            <a:pathLst>
              <a:path h="874559" w="218756">
                <a:moveTo>
                  <a:pt x="0" y="0"/>
                </a:moveTo>
                <a:lnTo>
                  <a:pt x="218756" y="0"/>
                </a:lnTo>
                <a:lnTo>
                  <a:pt x="21875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976859" y="6856865"/>
            <a:ext cx="2138543" cy="5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b="true" sz="4315" spc="86">
                <a:solidFill>
                  <a:srgbClr val="1C9B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DETECT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883110" y="6635716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233144" y="6856865"/>
            <a:ext cx="1769848" cy="56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b="true" sz="4315" spc="86">
                <a:solidFill>
                  <a:srgbClr val="1C9B9B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ALERT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26574" y="7499343"/>
            <a:ext cx="17434852" cy="1934962"/>
          </a:xfrm>
          <a:custGeom>
            <a:avLst/>
            <a:gdLst/>
            <a:ahLst/>
            <a:cxnLst/>
            <a:rect r="r" b="b" t="t" l="l"/>
            <a:pathLst>
              <a:path h="1934962" w="17434852">
                <a:moveTo>
                  <a:pt x="0" y="0"/>
                </a:moveTo>
                <a:lnTo>
                  <a:pt x="17434852" y="0"/>
                </a:lnTo>
                <a:lnTo>
                  <a:pt x="1743485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176622" y="7925691"/>
            <a:ext cx="1093780" cy="1289974"/>
          </a:xfrm>
          <a:custGeom>
            <a:avLst/>
            <a:gdLst/>
            <a:ahLst/>
            <a:cxnLst/>
            <a:rect r="r" b="b" t="t" l="l"/>
            <a:pathLst>
              <a:path h="1289974" w="1093780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545547" y="8190294"/>
            <a:ext cx="1739814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b="true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Team Name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36910" y="8592948"/>
            <a:ext cx="2603571" cy="31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>
                <a:solidFill>
                  <a:srgbClr val="FFFFFF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TECHNOVA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748622" y="7925691"/>
            <a:ext cx="218756" cy="1289974"/>
          </a:xfrm>
          <a:custGeom>
            <a:avLst/>
            <a:gdLst/>
            <a:ahLst/>
            <a:cxnLst/>
            <a:rect r="r" b="b" t="t" l="l"/>
            <a:pathLst>
              <a:path h="1289974" w="218756">
                <a:moveTo>
                  <a:pt x="0" y="0"/>
                </a:moveTo>
                <a:lnTo>
                  <a:pt x="218756" y="0"/>
                </a:lnTo>
                <a:lnTo>
                  <a:pt x="21875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175196" y="7925691"/>
            <a:ext cx="1104718" cy="1289974"/>
          </a:xfrm>
          <a:custGeom>
            <a:avLst/>
            <a:gdLst/>
            <a:ahLst/>
            <a:cxnLst/>
            <a:rect r="r" b="b" t="t" l="l"/>
            <a:pathLst>
              <a:path h="1289974" w="1104718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469583" y="8190294"/>
            <a:ext cx="2254958" cy="34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b="true">
                <a:solidFill>
                  <a:srgbClr val="FFFFFF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Team Members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69583" y="8568564"/>
            <a:ext cx="5744341" cy="3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555">
                <a:solidFill>
                  <a:srgbClr val="FFFFFF"/>
                </a:solidFill>
                <a:latin typeface="TT Norms Std Condensed"/>
                <a:ea typeface="TT Norms Std Condensed"/>
                <a:cs typeface="TT Norms Std Condensed"/>
                <a:sym typeface="TT Norms Std Condensed"/>
              </a:rPr>
              <a:t>Khushi , Tushar , Manish and Aqsa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18969" y="9592455"/>
            <a:ext cx="3552372" cy="62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3"/>
              </a:lnSpc>
            </a:pPr>
            <a:r>
              <a:rPr lang="en-US" b="true" sz="4733" spc="94">
                <a:solidFill>
                  <a:srgbClr val="092C60"/>
                </a:solidFill>
                <a:latin typeface="TT Norms Std Condensed Bold"/>
                <a:ea typeface="TT Norms Std Condensed Bold"/>
                <a:cs typeface="TT Norms Std Condensed Bold"/>
                <a:sym typeface="TT Norms Std Condense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DAHXBIAedz8</dc:identifier>
  <dcterms:modified xsi:type="dcterms:W3CDTF">2011-08-01T06:04:30Z</dcterms:modified>
  <cp:revision>1</cp:revision>
  <dc:title>Smart Saline Pitch</dc:title>
</cp:coreProperties>
</file>